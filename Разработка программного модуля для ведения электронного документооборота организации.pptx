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A80D4-07B2-41A9-A7AA-1801E50E5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C9ACFE-F840-45E4-876B-51746F2BD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C29353-DB16-4B08-AB8E-932191F4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10DAF7-C868-47BD-B42A-47B4E7F8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847117-5AFB-42C9-B889-2BB63637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07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71CF8-ADD1-4539-9941-2AC7FAED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BB7118-8A5A-4DF0-A75C-3424A2A9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DB8C59-9B51-4690-A4CC-8F435635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CC54A6-F230-4482-B0F7-D458F03C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11720-8674-4571-A64E-2D786790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6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10BBA-A01E-4992-B56D-D43F908C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09BFC-9BCD-44F9-BEC0-BBFD58378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138B10-7FA7-4ED2-9DE5-168BA409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5E2AAF-32D7-4403-9FEC-CF9B44F1D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C3A9E4-4211-46ED-9201-D162A5B5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2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C66C1-5C25-4D9F-9ED9-43AECAD2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D6A7E-E6E7-4A93-83E2-619F54BE6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A31858-7191-4BCC-91CA-FA53FFAE9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10B9DC-33E0-4D8B-A86C-66DA9295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9FA7E0-FFB1-41E5-A90D-3AE83290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4B376E-EAD0-4DB0-B4E6-50F558B1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53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09571-9B8A-4209-A39A-31C081C3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D28189-5F65-4815-8CCD-F30BBAFCF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AEBCC0-9236-4388-A2AC-A09119AA5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3EB52-A23B-4764-95CA-8829F69F9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FD66EC-7CC3-45F7-B279-437A7ACF4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B5BF47-E1BA-4DC4-97F5-63BDDF49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5B9CEC0-2BB6-40F1-A456-E6CA9842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68A0BD-D917-4D93-805F-407117FC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2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C0EA9-CDAB-41AB-B076-84453AA3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0E9FB1-BDF9-4809-AF12-73BAB80E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C42580-E2CA-4B11-B4A8-D917A8BF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2DD218-0358-4F7A-8DDB-F3F0642D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56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717A9EB-DDCA-4492-8B39-F2F710BA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4FEFB9-56EB-41EB-9C66-5B663863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16BE67-E11E-4FC9-9ADC-D55721A6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633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B15A0-9996-451E-A883-46FC108B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2C307B-1D17-4DE3-B182-D02C3E2A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96B026-744F-4F50-9AC1-9A2E36DCE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8EA3DF-D6D8-4621-A5D1-9C367644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D4ECDF-A90B-4B18-942A-E787E543C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0E0EDF-6754-485E-96CC-E6DB3528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25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8D735-43FA-45E0-A739-A5BE6FEB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AF9424-A4C2-4C76-87F1-5007D6C9D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7C97EE-3600-4D72-9758-7ABF21F4E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1326EB-FB60-4440-A66D-5FAF361E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D19330-7677-4A0F-8B0F-400E66E0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10F9D4-69FC-4C0C-904E-98FB32BE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16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392D-A3B1-4598-8318-6A67D1A6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465930-D14D-49AE-B246-E9D35397F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796C32-0895-4404-A394-5EDE298D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67C82E-201D-4A10-A70F-71C9C4D8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795FD-F63C-49AD-8273-E9A49CDC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110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8AE8DE-5442-4191-8145-B8C1DAC9D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300371-FC5F-4195-A585-240142185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4BE694-5C30-4CF3-BCCE-C86389B8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7395DD-2604-4B4A-89F7-875E9277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1939E-FC6E-4F4E-A9F5-E7750967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46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95903-01C6-4DFF-B714-4A8F97225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84184A-E237-4B4C-90E4-2D54B62D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9F42B-F746-45B9-90BC-E345F29FE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C8E2F-4E5F-4EC9-9B54-5B0880726DC4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8B9A0D-2CA4-41B7-9867-F102270F2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CB8DE5-33FE-48F2-9DCA-926E7E77A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8524C-1D79-4D02-92C3-46220921D7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97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FF38B-1F74-4630-9C0F-37AA46127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98E62-F044-44C6-A320-195F0012A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14" descr="touch-icon-ipad-retina">
            <a:extLst>
              <a:ext uri="{FF2B5EF4-FFF2-40B4-BE49-F238E27FC236}">
                <a16:creationId xmlns:a16="http://schemas.microsoft.com/office/drawing/2014/main" id="{1D53823C-F6B5-4D18-B5EA-4F241FF70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36" y="260718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67FE22-938C-4A40-8A9A-3B9065AFCBE1}"/>
              </a:ext>
            </a:extLst>
          </p:cNvPr>
          <p:cNvSpPr txBox="1"/>
          <p:nvPr/>
        </p:nvSpPr>
        <p:spPr>
          <a:xfrm>
            <a:off x="3705727" y="260718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1FDB7-1013-4BC2-9995-115955988C09}"/>
              </a:ext>
            </a:extLst>
          </p:cNvPr>
          <p:cNvSpPr txBox="1"/>
          <p:nvPr/>
        </p:nvSpPr>
        <p:spPr>
          <a:xfrm>
            <a:off x="7748336" y="3626687"/>
            <a:ext cx="4251159" cy="220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Выполнил: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Кислицын Роман Алексеевич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Группа: 22П-1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Специальность: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09.02.07 Информационные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системы и программирование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Руководитель: </a:t>
            </a:r>
            <a:r>
              <a:rPr lang="ru-RU" altLang="ru-RU" dirty="0" err="1"/>
              <a:t>Пентин</a:t>
            </a:r>
            <a:r>
              <a:rPr lang="ru-RU" altLang="ru-RU" dirty="0"/>
              <a:t> Николай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410524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C18EA-A767-4F78-94D1-727C8C57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445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23CB4-88A2-409E-A02F-F89C378A9D7A}"/>
              </a:ext>
            </a:extLst>
          </p:cNvPr>
          <p:cNvSpPr txBox="1"/>
          <p:nvPr/>
        </p:nvSpPr>
        <p:spPr>
          <a:xfrm>
            <a:off x="1004693" y="1150374"/>
            <a:ext cx="94648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/>
            <a:r>
              <a:rPr lang="ru-RU" sz="20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курсового проекта — разработка программного модуля для автоматизации процессов электронного документооборота в организации, что позволяет повысить скорость обработки информации, снизить трудозатраты и обеспечить прозрачность рабочих процессов.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A172E-2BC7-4BBB-AC48-AE7D0F014C27}"/>
              </a:ext>
            </a:extLst>
          </p:cNvPr>
          <p:cNvSpPr txBox="1"/>
          <p:nvPr/>
        </p:nvSpPr>
        <p:spPr>
          <a:xfrm>
            <a:off x="1004692" y="2666031"/>
            <a:ext cx="106793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l"/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Задачи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Выполнить анализ предметной области и существующих систем электронного документооборота.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Разработать техническое задание для создания программного модуля.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Спроектировать структуру данных, интерфейса и логики системы.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Реализовать функциональность модуля средствами языка C# и платформы WPF.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Разработать алгоритмы маршрутизации, </a:t>
            </a:r>
            <a:r>
              <a:rPr lang="ru-RU" sz="2000" b="0" i="0" dirty="0" err="1">
                <a:solidFill>
                  <a:srgbClr val="1D1D20"/>
                </a:solidFill>
                <a:effectLst/>
                <a:latin typeface="system-ui"/>
              </a:rPr>
              <a:t>версионирования</a:t>
            </a: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 и обработки документов.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Провести тестирование готового программного решения.</a:t>
            </a:r>
          </a:p>
          <a:p>
            <a:pPr indent="4445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Подготовить руководство </a:t>
            </a:r>
            <a:r>
              <a:rPr lang="ru-RU" sz="2000" dirty="0">
                <a:solidFill>
                  <a:srgbClr val="1D1D20"/>
                </a:solidFill>
                <a:latin typeface="system-ui"/>
              </a:rPr>
              <a:t>оператора</a:t>
            </a:r>
            <a:r>
              <a:rPr lang="ru-RU" sz="2000" b="0" i="0" dirty="0">
                <a:solidFill>
                  <a:srgbClr val="1D1D20"/>
                </a:solidFill>
                <a:effectLst/>
                <a:latin typeface="system-ui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4A74C-E78F-4051-8283-C6D0C225769E}"/>
              </a:ext>
            </a:extLst>
          </p:cNvPr>
          <p:cNvSpPr txBox="1"/>
          <p:nvPr/>
        </p:nvSpPr>
        <p:spPr>
          <a:xfrm>
            <a:off x="1004692" y="120345"/>
            <a:ext cx="1149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4708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5B11E-5AA9-4C99-B71C-A86254DB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4458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b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37B52-C8E5-41B9-A4EF-EA30A5D4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Электронный документооборот  — это совокупность процессов, обеспечивающих создание, обработку, передачу, согласование, хранение и архивирование документов в цифровом виде.</a:t>
            </a:r>
          </a:p>
          <a:p>
            <a:pPr algn="l"/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Цель ЭДО — заменить медленный, трудоемкий и подверженный ошибкам бумажный документооборот на быструю, надежную и прозрачную систему управления документами.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6921F-B7F0-4298-B2E2-6B448BF8768F}"/>
              </a:ext>
            </a:extLst>
          </p:cNvPr>
          <p:cNvSpPr txBox="1"/>
          <p:nvPr/>
        </p:nvSpPr>
        <p:spPr>
          <a:xfrm>
            <a:off x="1219198" y="243972"/>
            <a:ext cx="11413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394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F4957-B323-403A-9EB7-871B7626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ru-RU" altLang="ru-RU" sz="4000" b="1" dirty="0">
                <a:latin typeface="Times New Roman" panose="02020603050405020304" pitchFamily="18" charset="0"/>
              </a:rPr>
              <a:t>Средства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9F89E7-1DC2-4735-A0D1-FC7C13C95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 Visual Studio (последние версии, поддерживающие .NET 6+).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C#.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для пользовательского интерфейса: Windows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Foundation (WPF).</a:t>
            </a: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6D343BF-59B5-4812-80F9-C29CFF8AC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66" y="4231217"/>
            <a:ext cx="4191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E0DD0E7-2546-4709-80AC-C95BF33B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509" y="389784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204CFA9C-DA3C-403A-8FC0-6453F7DC4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169" y="4162425"/>
            <a:ext cx="2116667" cy="21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4C8FB-4BA7-42B2-8BC9-23042115FC60}"/>
              </a:ext>
            </a:extLst>
          </p:cNvPr>
          <p:cNvSpPr txBox="1"/>
          <p:nvPr/>
        </p:nvSpPr>
        <p:spPr>
          <a:xfrm>
            <a:off x="660400" y="133879"/>
            <a:ext cx="1069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155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293DF-E950-4545-93BB-7F979DF1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программы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A3CF5D-EDAE-40B7-A612-C4108A1C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Управление пользователями и правами доступа.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Работа с документами: создание, редактирование, загрузка файлов,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версионирование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Маршрутизация и согласование: формирование цепочек согласования, утверждение, отклонение с комментариями.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Хранение, поиск и фильтрация: каталогизация по типам, поиск по реквизитам.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Архивирование: автоматическое перемещение истекших документов.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Уведомления и отчетность: оповещения о событиях, формирование отчетов в PDF/Excel.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3C5BA-3D5A-4EC3-BEE7-14FADB41FAF5}"/>
              </a:ext>
            </a:extLst>
          </p:cNvPr>
          <p:cNvSpPr txBox="1"/>
          <p:nvPr/>
        </p:nvSpPr>
        <p:spPr>
          <a:xfrm>
            <a:off x="838200" y="112991"/>
            <a:ext cx="1033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76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0CD3-F10A-44D2-A875-32642068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Окна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7CE48-5DDD-4A32-B987-171362EAB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685"/>
            <a:ext cx="10515600" cy="4351338"/>
          </a:xfrm>
        </p:spPr>
        <p:txBody>
          <a:bodyPr/>
          <a:lstStyle/>
          <a:p>
            <a:r>
              <a:rPr lang="ru-RU" dirty="0"/>
              <a:t>1. Главное окно создания документов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827C81-F946-4045-9536-A67FA04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4" y="2062780"/>
            <a:ext cx="11763492" cy="34744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B31D6A-621A-4861-9F80-FD65B8FDDEAF}"/>
              </a:ext>
            </a:extLst>
          </p:cNvPr>
          <p:cNvSpPr txBox="1"/>
          <p:nvPr/>
        </p:nvSpPr>
        <p:spPr>
          <a:xfrm>
            <a:off x="214254" y="180459"/>
            <a:ext cx="11763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12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5B999AB-1603-41B9-838C-77465488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100"/>
            <a:ext cx="10515600" cy="4297363"/>
          </a:xfrm>
        </p:spPr>
        <p:txBody>
          <a:bodyPr/>
          <a:lstStyle/>
          <a:p>
            <a:pPr algn="ctr"/>
            <a:r>
              <a:rPr lang="ru-RU" dirty="0"/>
              <a:t>2. Процесс согласования документов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73AFC7-C134-401C-A4E6-97C0742C4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7" y="1246319"/>
            <a:ext cx="10861966" cy="5065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477686-71DD-4975-9207-6624B2CBB24F}"/>
              </a:ext>
            </a:extLst>
          </p:cNvPr>
          <p:cNvSpPr txBox="1"/>
          <p:nvPr/>
        </p:nvSpPr>
        <p:spPr>
          <a:xfrm>
            <a:off x="665016" y="0"/>
            <a:ext cx="11171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940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B511035-2A27-4DE1-9CC1-16680A6CB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6" y="627856"/>
            <a:ext cx="10515600" cy="4351338"/>
          </a:xfrm>
        </p:spPr>
        <p:txBody>
          <a:bodyPr/>
          <a:lstStyle/>
          <a:p>
            <a:pPr algn="ctr"/>
            <a:r>
              <a:rPr lang="ru-RU" dirty="0"/>
              <a:t>3. Окно управления пользователями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FF80E8-3B2C-4406-AEB2-5D7104C05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4" y="1355990"/>
            <a:ext cx="11805092" cy="4714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0FA99A-E668-447F-985A-C7FC2569F193}"/>
              </a:ext>
            </a:extLst>
          </p:cNvPr>
          <p:cNvSpPr txBox="1"/>
          <p:nvPr/>
        </p:nvSpPr>
        <p:spPr>
          <a:xfrm>
            <a:off x="193454" y="79123"/>
            <a:ext cx="1240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770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710B7E-4952-4805-B74E-734BD7292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5625"/>
            <a:ext cx="10515600" cy="4351338"/>
          </a:xfrm>
        </p:spPr>
        <p:txBody>
          <a:bodyPr/>
          <a:lstStyle/>
          <a:p>
            <a:pPr algn="ctr"/>
            <a:r>
              <a:rPr lang="ru-RU" dirty="0"/>
              <a:t>4. Окно расширенного поиска документов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12E24B-3480-488E-84F5-5007F53E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2" y="1233662"/>
            <a:ext cx="10701867" cy="4574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182622-05BB-48D4-8177-CFAB8D502B56}"/>
              </a:ext>
            </a:extLst>
          </p:cNvPr>
          <p:cNvSpPr txBox="1"/>
          <p:nvPr/>
        </p:nvSpPr>
        <p:spPr>
          <a:xfrm>
            <a:off x="838200" y="186293"/>
            <a:ext cx="1090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73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5D5359-D202-47F8-B0E6-C47E31FE8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62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5. Окно настроек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4F7CB-E343-4702-8296-2138C5597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373" y="1474040"/>
            <a:ext cx="4085494" cy="4890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67814F-EDB8-4E62-A4B7-8824BF522466}"/>
              </a:ext>
            </a:extLst>
          </p:cNvPr>
          <p:cNvSpPr txBox="1"/>
          <p:nvPr/>
        </p:nvSpPr>
        <p:spPr>
          <a:xfrm>
            <a:off x="982133" y="207360"/>
            <a:ext cx="1022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25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0A1F941-B0D1-4539-89FC-EF3C2DEA3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930166"/>
            <a:ext cx="10515600" cy="4351338"/>
          </a:xfrm>
        </p:spPr>
        <p:txBody>
          <a:bodyPr/>
          <a:lstStyle/>
          <a:p>
            <a:pPr algn="ctr"/>
            <a:r>
              <a:rPr lang="ru-RU" dirty="0"/>
              <a:t>6. Окно Помощи и Поддержки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D50A8F-7418-44C8-9BF1-AC3B04F66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663303"/>
            <a:ext cx="4869737" cy="4808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D1D57-ED25-41C2-828E-1B066FB3F6C3}"/>
              </a:ext>
            </a:extLst>
          </p:cNvPr>
          <p:cNvSpPr txBox="1"/>
          <p:nvPr/>
        </p:nvSpPr>
        <p:spPr>
          <a:xfrm>
            <a:off x="635000" y="345065"/>
            <a:ext cx="11082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34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807002E-13EA-4158-AF64-8D8307E6E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0166"/>
            <a:ext cx="10515600" cy="4351338"/>
          </a:xfrm>
        </p:spPr>
        <p:txBody>
          <a:bodyPr/>
          <a:lstStyle/>
          <a:p>
            <a:pPr algn="ctr"/>
            <a:r>
              <a:rPr lang="en-US" dirty="0"/>
              <a:t>7. </a:t>
            </a:r>
            <a:r>
              <a:rPr lang="ru-RU" dirty="0"/>
              <a:t>Окно аналитики и экспорта результатов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78F6E1-F64E-4C3B-84E9-7B9E5D12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2941"/>
            <a:ext cx="10930467" cy="5081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D43979-2350-4B2F-91F1-1B7AC8034BD6}"/>
              </a:ext>
            </a:extLst>
          </p:cNvPr>
          <p:cNvSpPr txBox="1"/>
          <p:nvPr/>
        </p:nvSpPr>
        <p:spPr>
          <a:xfrm>
            <a:off x="838200" y="239447"/>
            <a:ext cx="1135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456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826B8-9CEA-4C9A-91BF-6975C271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33" y="754592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традиционного документооборота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ADB9D-2F27-4BD4-8272-532AE535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3" y="1734873"/>
            <a:ext cx="10515600" cy="4605602"/>
          </a:xfrm>
        </p:spPr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Основные проблемы, которые решает модуль: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Низкая скорость процессов из-за физического перемещения документов.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Высокий риск потери или порчи документов.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Отсутствие единого пространства для хранения и поиска информации.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Сложность контроля исполнения задач и сроков.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Отсутствие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версионирования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 при совместной работе.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Недостаточная прозрачность процессов для руководства.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097FB-C76C-4689-AB88-953B33BB1B82}"/>
              </a:ext>
            </a:extLst>
          </p:cNvPr>
          <p:cNvSpPr txBox="1"/>
          <p:nvPr/>
        </p:nvSpPr>
        <p:spPr>
          <a:xfrm>
            <a:off x="651933" y="225451"/>
            <a:ext cx="11032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71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D9D3C-4E0B-49B2-8D1D-CA1BD86A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pPr algn="ctr"/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Перспективы развития</a:t>
            </a:r>
            <a:br>
              <a:rPr lang="ru-RU" b="0" i="0" dirty="0">
                <a:solidFill>
                  <a:srgbClr val="1D1D20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436895-9FBC-43C8-874B-CCDF165C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Интеграция с облачными хранилищами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(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OneDrive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, Google Drive) для расширения возможностей хранения и совместной работы.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Разработка мобильного приложения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 для доступа к документам и уведомлениям в любое время и из любого места.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Внедрение электронной подписи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для юридической значимости документов и автоматизации согласований.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Добавление аналитических </a:t>
            </a:r>
            <a:r>
              <a:rPr lang="ru-RU" b="1" i="0" dirty="0" err="1">
                <a:solidFill>
                  <a:srgbClr val="1D1D20"/>
                </a:solidFill>
                <a:effectLst/>
                <a:latin typeface="system-ui"/>
              </a:rPr>
              <a:t>дашбордов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 для визуализации KPI(</a:t>
            </a:r>
            <a:r>
              <a:rPr lang="ru-RU" b="0" dirty="0">
                <a:solidFill>
                  <a:srgbClr val="1D1D20"/>
                </a:solidFill>
                <a:effectLst/>
                <a:latin typeface="system-ui"/>
              </a:rPr>
              <a:t>ключевой показатель эффективности)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: сроков обработки, нагрузки на сотрудников, эффективности маршрутов.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20"/>
                </a:solidFill>
                <a:effectLst/>
                <a:latin typeface="system-ui"/>
              </a:rPr>
              <a:t>Расширение системы уведомлений 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(SMS,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system-ui"/>
              </a:rPr>
              <a:t>push</a:t>
            </a:r>
            <a:r>
              <a:rPr lang="ru-RU" b="0" i="0" dirty="0">
                <a:solidFill>
                  <a:srgbClr val="1D1D20"/>
                </a:solidFill>
                <a:effectLst/>
                <a:latin typeface="system-ui"/>
              </a:rPr>
              <a:t>-уведомления) для повышения оперативности реакции на события.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C8AD8-236D-4DB2-9C80-7EB532C26F73}"/>
              </a:ext>
            </a:extLst>
          </p:cNvPr>
          <p:cNvSpPr txBox="1"/>
          <p:nvPr/>
        </p:nvSpPr>
        <p:spPr>
          <a:xfrm>
            <a:off x="838200" y="311705"/>
            <a:ext cx="9863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для ведения электронного документооборота организации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6252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574</Words>
  <Application>Microsoft Office PowerPoint</Application>
  <PresentationFormat>Широкоэкранный</PresentationFormat>
  <Paragraphs>69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Times New Roman</vt:lpstr>
      <vt:lpstr>Тема Office</vt:lpstr>
      <vt:lpstr>Разработка программного модуля для ведения электронного документооборота организации </vt:lpstr>
      <vt:lpstr>Цели и задачи</vt:lpstr>
      <vt:lpstr>Анализ предметной области </vt:lpstr>
      <vt:lpstr>Средства разработки</vt:lpstr>
      <vt:lpstr>Основные функции программы </vt:lpstr>
      <vt:lpstr>Окна программы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Проблемы традиционного документооборота </vt:lpstr>
      <vt:lpstr>Перспективы развития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ведения электронного документооборота организации </dc:title>
  <dc:creator>kiclicinroma228@gmail.com</dc:creator>
  <cp:lastModifiedBy>kiclicinroma228@gmail.com</cp:lastModifiedBy>
  <cp:revision>7</cp:revision>
  <dcterms:created xsi:type="dcterms:W3CDTF">2025-12-11T07:55:53Z</dcterms:created>
  <dcterms:modified xsi:type="dcterms:W3CDTF">2025-12-11T09:23:25Z</dcterms:modified>
</cp:coreProperties>
</file>